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3" r:id="rId3"/>
    <p:sldId id="266" r:id="rId4"/>
    <p:sldId id="264" r:id="rId5"/>
    <p:sldId id="270" r:id="rId6"/>
    <p:sldId id="271" r:id="rId7"/>
    <p:sldId id="257" r:id="rId8"/>
    <p:sldId id="273" r:id="rId9"/>
    <p:sldId id="262" r:id="rId10"/>
    <p:sldId id="267" r:id="rId11"/>
    <p:sldId id="265" r:id="rId12"/>
    <p:sldId id="258" r:id="rId13"/>
    <p:sldId id="268" r:id="rId14"/>
    <p:sldId id="260" r:id="rId15"/>
    <p:sldId id="261" r:id="rId16"/>
    <p:sldId id="259" r:id="rId17"/>
    <p:sldId id="274" r:id="rId18"/>
    <p:sldId id="269" r:id="rId19"/>
    <p:sldId id="272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26"/>
    <p:restoredTop sz="94726"/>
  </p:normalViewPr>
  <p:slideViewPr>
    <p:cSldViewPr snapToGrid="0">
      <p:cViewPr varScale="1">
        <p:scale>
          <a:sx n="117" d="100"/>
          <a:sy n="117" d="100"/>
        </p:scale>
        <p:origin x="43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5957C58-A243-EB41-835F-3A29D26CF9A0}" type="doc">
      <dgm:prSet loTypeId="urn:microsoft.com/office/officeart/2005/8/layout/process1" loCatId="" qsTypeId="urn:microsoft.com/office/officeart/2005/8/quickstyle/simple1" qsCatId="simple" csTypeId="urn:microsoft.com/office/officeart/2005/8/colors/accent1_2" csCatId="accent1" phldr="1"/>
      <dgm:spPr/>
    </dgm:pt>
    <dgm:pt modelId="{FE89AB63-9004-BA43-B89D-96D20F934817}">
      <dgm:prSet phldrT="[Text]"/>
      <dgm:spPr/>
      <dgm:t>
        <a:bodyPr/>
        <a:lstStyle/>
        <a:p>
          <a:r>
            <a:rPr lang="en-GB" dirty="0"/>
            <a:t>Design basic programme</a:t>
          </a:r>
        </a:p>
      </dgm:t>
    </dgm:pt>
    <dgm:pt modelId="{2C98C706-431A-4E4D-9A1D-0134A0659E2F}" type="parTrans" cxnId="{63CBF876-4011-A84B-9AFC-A3822DEA6E78}">
      <dgm:prSet/>
      <dgm:spPr/>
      <dgm:t>
        <a:bodyPr/>
        <a:lstStyle/>
        <a:p>
          <a:endParaRPr lang="en-GB"/>
        </a:p>
      </dgm:t>
    </dgm:pt>
    <dgm:pt modelId="{1E67AC87-9106-F34E-8CD5-26F4FA17A767}" type="sibTrans" cxnId="{63CBF876-4011-A84B-9AFC-A3822DEA6E78}">
      <dgm:prSet/>
      <dgm:spPr/>
      <dgm:t>
        <a:bodyPr/>
        <a:lstStyle/>
        <a:p>
          <a:endParaRPr lang="en-GB"/>
        </a:p>
      </dgm:t>
    </dgm:pt>
    <dgm:pt modelId="{861890ED-01C7-FB4D-BAAA-75946CBCA6BD}">
      <dgm:prSet phldrT="[Text]"/>
      <dgm:spPr/>
      <dgm:t>
        <a:bodyPr/>
        <a:lstStyle/>
        <a:p>
          <a:r>
            <a:rPr lang="en-GB" dirty="0"/>
            <a:t>Teach programme to identify normal blood cells</a:t>
          </a:r>
        </a:p>
      </dgm:t>
    </dgm:pt>
    <dgm:pt modelId="{FE59E3A0-42A8-7A4B-B24B-75FDE9807EF9}" type="parTrans" cxnId="{08BEA50F-BEB7-734D-A2F4-93320889A6B6}">
      <dgm:prSet/>
      <dgm:spPr/>
      <dgm:t>
        <a:bodyPr/>
        <a:lstStyle/>
        <a:p>
          <a:endParaRPr lang="en-GB"/>
        </a:p>
      </dgm:t>
    </dgm:pt>
    <dgm:pt modelId="{B588900B-05BE-5B4A-A733-EAC6D3CFACB4}" type="sibTrans" cxnId="{08BEA50F-BEB7-734D-A2F4-93320889A6B6}">
      <dgm:prSet/>
      <dgm:spPr/>
      <dgm:t>
        <a:bodyPr/>
        <a:lstStyle/>
        <a:p>
          <a:endParaRPr lang="en-GB"/>
        </a:p>
      </dgm:t>
    </dgm:pt>
    <dgm:pt modelId="{1F22B4E1-AAB3-0B45-A8D6-935121879A1C}">
      <dgm:prSet phldrT="[Text]"/>
      <dgm:spPr/>
      <dgm:t>
        <a:bodyPr/>
        <a:lstStyle/>
        <a:p>
          <a:r>
            <a:rPr lang="en-GB" dirty="0"/>
            <a:t>Teach programme to identify abnormal blood cells</a:t>
          </a:r>
        </a:p>
      </dgm:t>
    </dgm:pt>
    <dgm:pt modelId="{3B40F799-AB2E-CC47-BB62-A3943D737A5C}" type="parTrans" cxnId="{267778EA-1731-6F44-A81C-715DEB4C031C}">
      <dgm:prSet/>
      <dgm:spPr/>
      <dgm:t>
        <a:bodyPr/>
        <a:lstStyle/>
        <a:p>
          <a:endParaRPr lang="en-GB"/>
        </a:p>
      </dgm:t>
    </dgm:pt>
    <dgm:pt modelId="{4758CB0C-B005-1A44-A50B-3E978D9C19E3}" type="sibTrans" cxnId="{267778EA-1731-6F44-A81C-715DEB4C031C}">
      <dgm:prSet/>
      <dgm:spPr/>
      <dgm:t>
        <a:bodyPr/>
        <a:lstStyle/>
        <a:p>
          <a:endParaRPr lang="en-GB"/>
        </a:p>
      </dgm:t>
    </dgm:pt>
    <dgm:pt modelId="{6ECB1C56-2445-554F-811A-0368A3A75DAE}">
      <dgm:prSet/>
      <dgm:spPr/>
      <dgm:t>
        <a:bodyPr/>
        <a:lstStyle/>
        <a:p>
          <a:r>
            <a:rPr lang="en-GB" dirty="0"/>
            <a:t>Teach programme to identify diseases associated with abnormal blood cells</a:t>
          </a:r>
        </a:p>
      </dgm:t>
    </dgm:pt>
    <dgm:pt modelId="{378ABFF6-7F5F-844F-894F-AC47884FC3AF}" type="parTrans" cxnId="{3E99CB62-1AD3-C648-AD45-F8678099E034}">
      <dgm:prSet/>
      <dgm:spPr/>
      <dgm:t>
        <a:bodyPr/>
        <a:lstStyle/>
        <a:p>
          <a:endParaRPr lang="en-GB"/>
        </a:p>
      </dgm:t>
    </dgm:pt>
    <dgm:pt modelId="{5FCAC674-5450-FB45-B841-C10ACF3C6AD2}" type="sibTrans" cxnId="{3E99CB62-1AD3-C648-AD45-F8678099E034}">
      <dgm:prSet/>
      <dgm:spPr/>
      <dgm:t>
        <a:bodyPr/>
        <a:lstStyle/>
        <a:p>
          <a:endParaRPr lang="en-GB"/>
        </a:p>
      </dgm:t>
    </dgm:pt>
    <dgm:pt modelId="{3CF44B6E-E78D-A74D-BC1D-32D5314A3A66}">
      <dgm:prSet/>
      <dgm:spPr/>
      <dgm:t>
        <a:bodyPr/>
        <a:lstStyle/>
        <a:p>
          <a:r>
            <a:rPr lang="en-GB" dirty="0"/>
            <a:t>Teach programme to integrate itself with other blood results e.g. FBC associated with diseases</a:t>
          </a:r>
        </a:p>
      </dgm:t>
    </dgm:pt>
    <dgm:pt modelId="{0C1862D1-1220-8F41-87C1-3D07B9C2ABA3}" type="parTrans" cxnId="{7197B346-FB65-8F41-BBD3-581DDB6A87B9}">
      <dgm:prSet/>
      <dgm:spPr/>
      <dgm:t>
        <a:bodyPr/>
        <a:lstStyle/>
        <a:p>
          <a:endParaRPr lang="en-GB"/>
        </a:p>
      </dgm:t>
    </dgm:pt>
    <dgm:pt modelId="{81C8000C-070E-974E-9211-9199A0BBBD83}" type="sibTrans" cxnId="{7197B346-FB65-8F41-BBD3-581DDB6A87B9}">
      <dgm:prSet/>
      <dgm:spPr/>
      <dgm:t>
        <a:bodyPr/>
        <a:lstStyle/>
        <a:p>
          <a:endParaRPr lang="en-GB"/>
        </a:p>
      </dgm:t>
    </dgm:pt>
    <dgm:pt modelId="{E25A4AAC-1D30-9547-A17F-1B512D6CB85D}">
      <dgm:prSet/>
      <dgm:spPr/>
      <dgm:t>
        <a:bodyPr/>
        <a:lstStyle/>
        <a:p>
          <a:r>
            <a:rPr lang="en-GB" dirty="0"/>
            <a:t>Deliver diagnostic report</a:t>
          </a:r>
        </a:p>
      </dgm:t>
    </dgm:pt>
    <dgm:pt modelId="{C2658BC6-1A32-8849-BCC5-8D9E5827D408}" type="parTrans" cxnId="{0E6C1CC1-F4AC-BF45-A90E-79575EADB358}">
      <dgm:prSet/>
      <dgm:spPr/>
      <dgm:t>
        <a:bodyPr/>
        <a:lstStyle/>
        <a:p>
          <a:endParaRPr lang="en-GB"/>
        </a:p>
      </dgm:t>
    </dgm:pt>
    <dgm:pt modelId="{00B7BCF5-4A9F-164C-B9F8-95745BB8CE87}" type="sibTrans" cxnId="{0E6C1CC1-F4AC-BF45-A90E-79575EADB358}">
      <dgm:prSet/>
      <dgm:spPr/>
      <dgm:t>
        <a:bodyPr/>
        <a:lstStyle/>
        <a:p>
          <a:endParaRPr lang="en-GB"/>
        </a:p>
      </dgm:t>
    </dgm:pt>
    <dgm:pt modelId="{27DF80F7-BE31-8342-9EC0-A25612DD0F53}" type="pres">
      <dgm:prSet presAssocID="{55957C58-A243-EB41-835F-3A29D26CF9A0}" presName="Name0" presStyleCnt="0">
        <dgm:presLayoutVars>
          <dgm:dir/>
          <dgm:resizeHandles val="exact"/>
        </dgm:presLayoutVars>
      </dgm:prSet>
      <dgm:spPr/>
    </dgm:pt>
    <dgm:pt modelId="{9BDFE7C5-372D-8942-8B5B-BDE92442E5E3}" type="pres">
      <dgm:prSet presAssocID="{FE89AB63-9004-BA43-B89D-96D20F934817}" presName="node" presStyleLbl="node1" presStyleIdx="0" presStyleCnt="6">
        <dgm:presLayoutVars>
          <dgm:bulletEnabled val="1"/>
        </dgm:presLayoutVars>
      </dgm:prSet>
      <dgm:spPr/>
    </dgm:pt>
    <dgm:pt modelId="{85E73927-9B59-F14F-AECF-D5A648DD2EAF}" type="pres">
      <dgm:prSet presAssocID="{1E67AC87-9106-F34E-8CD5-26F4FA17A767}" presName="sibTrans" presStyleLbl="sibTrans2D1" presStyleIdx="0" presStyleCnt="5"/>
      <dgm:spPr/>
    </dgm:pt>
    <dgm:pt modelId="{4CF8D194-995A-6F41-80CE-F30A92297901}" type="pres">
      <dgm:prSet presAssocID="{1E67AC87-9106-F34E-8CD5-26F4FA17A767}" presName="connectorText" presStyleLbl="sibTrans2D1" presStyleIdx="0" presStyleCnt="5"/>
      <dgm:spPr/>
    </dgm:pt>
    <dgm:pt modelId="{7580283E-CDDE-F24A-BCA5-23BCD7F20F4D}" type="pres">
      <dgm:prSet presAssocID="{861890ED-01C7-FB4D-BAAA-75946CBCA6BD}" presName="node" presStyleLbl="node1" presStyleIdx="1" presStyleCnt="6">
        <dgm:presLayoutVars>
          <dgm:bulletEnabled val="1"/>
        </dgm:presLayoutVars>
      </dgm:prSet>
      <dgm:spPr/>
    </dgm:pt>
    <dgm:pt modelId="{84404A5D-038F-A94B-9882-573CB0463DDF}" type="pres">
      <dgm:prSet presAssocID="{B588900B-05BE-5B4A-A733-EAC6D3CFACB4}" presName="sibTrans" presStyleLbl="sibTrans2D1" presStyleIdx="1" presStyleCnt="5"/>
      <dgm:spPr/>
    </dgm:pt>
    <dgm:pt modelId="{F23D1680-E026-304B-8953-ABE081342C47}" type="pres">
      <dgm:prSet presAssocID="{B588900B-05BE-5B4A-A733-EAC6D3CFACB4}" presName="connectorText" presStyleLbl="sibTrans2D1" presStyleIdx="1" presStyleCnt="5"/>
      <dgm:spPr/>
    </dgm:pt>
    <dgm:pt modelId="{62901A25-6B9C-B049-B86E-447F39FA1AA6}" type="pres">
      <dgm:prSet presAssocID="{1F22B4E1-AAB3-0B45-A8D6-935121879A1C}" presName="node" presStyleLbl="node1" presStyleIdx="2" presStyleCnt="6">
        <dgm:presLayoutVars>
          <dgm:bulletEnabled val="1"/>
        </dgm:presLayoutVars>
      </dgm:prSet>
      <dgm:spPr/>
    </dgm:pt>
    <dgm:pt modelId="{0C90A55F-D48A-DC4E-B9EA-3EC936306661}" type="pres">
      <dgm:prSet presAssocID="{4758CB0C-B005-1A44-A50B-3E978D9C19E3}" presName="sibTrans" presStyleLbl="sibTrans2D1" presStyleIdx="2" presStyleCnt="5"/>
      <dgm:spPr/>
    </dgm:pt>
    <dgm:pt modelId="{A3C85CF6-F342-2149-8485-812C540479A6}" type="pres">
      <dgm:prSet presAssocID="{4758CB0C-B005-1A44-A50B-3E978D9C19E3}" presName="connectorText" presStyleLbl="sibTrans2D1" presStyleIdx="2" presStyleCnt="5"/>
      <dgm:spPr/>
    </dgm:pt>
    <dgm:pt modelId="{CAC10EC8-4232-5546-8595-148F5DA057CE}" type="pres">
      <dgm:prSet presAssocID="{6ECB1C56-2445-554F-811A-0368A3A75DAE}" presName="node" presStyleLbl="node1" presStyleIdx="3" presStyleCnt="6">
        <dgm:presLayoutVars>
          <dgm:bulletEnabled val="1"/>
        </dgm:presLayoutVars>
      </dgm:prSet>
      <dgm:spPr/>
    </dgm:pt>
    <dgm:pt modelId="{650584B5-47DE-DC4D-A80D-17C116A63C86}" type="pres">
      <dgm:prSet presAssocID="{5FCAC674-5450-FB45-B841-C10ACF3C6AD2}" presName="sibTrans" presStyleLbl="sibTrans2D1" presStyleIdx="3" presStyleCnt="5"/>
      <dgm:spPr/>
    </dgm:pt>
    <dgm:pt modelId="{F2115BBB-7401-1F49-AE5F-5B4EDDBF11BC}" type="pres">
      <dgm:prSet presAssocID="{5FCAC674-5450-FB45-B841-C10ACF3C6AD2}" presName="connectorText" presStyleLbl="sibTrans2D1" presStyleIdx="3" presStyleCnt="5"/>
      <dgm:spPr/>
    </dgm:pt>
    <dgm:pt modelId="{713DA976-ADE0-ED4C-95AE-BC3F84EBEA44}" type="pres">
      <dgm:prSet presAssocID="{3CF44B6E-E78D-A74D-BC1D-32D5314A3A66}" presName="node" presStyleLbl="node1" presStyleIdx="4" presStyleCnt="6">
        <dgm:presLayoutVars>
          <dgm:bulletEnabled val="1"/>
        </dgm:presLayoutVars>
      </dgm:prSet>
      <dgm:spPr/>
    </dgm:pt>
    <dgm:pt modelId="{6E52FBDE-BEFE-234D-833C-664436EA1E1B}" type="pres">
      <dgm:prSet presAssocID="{81C8000C-070E-974E-9211-9199A0BBBD83}" presName="sibTrans" presStyleLbl="sibTrans2D1" presStyleIdx="4" presStyleCnt="5"/>
      <dgm:spPr/>
    </dgm:pt>
    <dgm:pt modelId="{6209D4DC-0004-9547-B356-CBCF19FDDDAD}" type="pres">
      <dgm:prSet presAssocID="{81C8000C-070E-974E-9211-9199A0BBBD83}" presName="connectorText" presStyleLbl="sibTrans2D1" presStyleIdx="4" presStyleCnt="5"/>
      <dgm:spPr/>
    </dgm:pt>
    <dgm:pt modelId="{22B1308C-4B14-D547-8CDB-ACBD0F6D20F6}" type="pres">
      <dgm:prSet presAssocID="{E25A4AAC-1D30-9547-A17F-1B512D6CB85D}" presName="node" presStyleLbl="node1" presStyleIdx="5" presStyleCnt="6">
        <dgm:presLayoutVars>
          <dgm:bulletEnabled val="1"/>
        </dgm:presLayoutVars>
      </dgm:prSet>
      <dgm:spPr/>
    </dgm:pt>
  </dgm:ptLst>
  <dgm:cxnLst>
    <dgm:cxn modelId="{B7A70900-3DCE-D34F-A717-60226D318F03}" type="presOf" srcId="{861890ED-01C7-FB4D-BAAA-75946CBCA6BD}" destId="{7580283E-CDDE-F24A-BCA5-23BCD7F20F4D}" srcOrd="0" destOrd="0" presId="urn:microsoft.com/office/officeart/2005/8/layout/process1"/>
    <dgm:cxn modelId="{08BEA50F-BEB7-734D-A2F4-93320889A6B6}" srcId="{55957C58-A243-EB41-835F-3A29D26CF9A0}" destId="{861890ED-01C7-FB4D-BAAA-75946CBCA6BD}" srcOrd="1" destOrd="0" parTransId="{FE59E3A0-42A8-7A4B-B24B-75FDE9807EF9}" sibTransId="{B588900B-05BE-5B4A-A733-EAC6D3CFACB4}"/>
    <dgm:cxn modelId="{62554B11-0E10-8041-8F2C-6D9EE1FEB898}" type="presOf" srcId="{55957C58-A243-EB41-835F-3A29D26CF9A0}" destId="{27DF80F7-BE31-8342-9EC0-A25612DD0F53}" srcOrd="0" destOrd="0" presId="urn:microsoft.com/office/officeart/2005/8/layout/process1"/>
    <dgm:cxn modelId="{111E233E-38B6-5043-8AEF-E56668C5BC50}" type="presOf" srcId="{5FCAC674-5450-FB45-B841-C10ACF3C6AD2}" destId="{F2115BBB-7401-1F49-AE5F-5B4EDDBF11BC}" srcOrd="1" destOrd="0" presId="urn:microsoft.com/office/officeart/2005/8/layout/process1"/>
    <dgm:cxn modelId="{7197B346-FB65-8F41-BBD3-581DDB6A87B9}" srcId="{55957C58-A243-EB41-835F-3A29D26CF9A0}" destId="{3CF44B6E-E78D-A74D-BC1D-32D5314A3A66}" srcOrd="4" destOrd="0" parTransId="{0C1862D1-1220-8F41-87C1-3D07B9C2ABA3}" sibTransId="{81C8000C-070E-974E-9211-9199A0BBBD83}"/>
    <dgm:cxn modelId="{9685394D-4CA5-234E-8EBB-3D1DE9B3236A}" type="presOf" srcId="{FE89AB63-9004-BA43-B89D-96D20F934817}" destId="{9BDFE7C5-372D-8942-8B5B-BDE92442E5E3}" srcOrd="0" destOrd="0" presId="urn:microsoft.com/office/officeart/2005/8/layout/process1"/>
    <dgm:cxn modelId="{66ABF057-09CC-1F4D-8EF5-55E9BAB1330D}" type="presOf" srcId="{4758CB0C-B005-1A44-A50B-3E978D9C19E3}" destId="{0C90A55F-D48A-DC4E-B9EA-3EC936306661}" srcOrd="0" destOrd="0" presId="urn:microsoft.com/office/officeart/2005/8/layout/process1"/>
    <dgm:cxn modelId="{3E99CB62-1AD3-C648-AD45-F8678099E034}" srcId="{55957C58-A243-EB41-835F-3A29D26CF9A0}" destId="{6ECB1C56-2445-554F-811A-0368A3A75DAE}" srcOrd="3" destOrd="0" parTransId="{378ABFF6-7F5F-844F-894F-AC47884FC3AF}" sibTransId="{5FCAC674-5450-FB45-B841-C10ACF3C6AD2}"/>
    <dgm:cxn modelId="{8A239B75-95C5-7C4A-8B4F-F4E16E65A1FA}" type="presOf" srcId="{81C8000C-070E-974E-9211-9199A0BBBD83}" destId="{6209D4DC-0004-9547-B356-CBCF19FDDDAD}" srcOrd="1" destOrd="0" presId="urn:microsoft.com/office/officeart/2005/8/layout/process1"/>
    <dgm:cxn modelId="{63CBF876-4011-A84B-9AFC-A3822DEA6E78}" srcId="{55957C58-A243-EB41-835F-3A29D26CF9A0}" destId="{FE89AB63-9004-BA43-B89D-96D20F934817}" srcOrd="0" destOrd="0" parTransId="{2C98C706-431A-4E4D-9A1D-0134A0659E2F}" sibTransId="{1E67AC87-9106-F34E-8CD5-26F4FA17A767}"/>
    <dgm:cxn modelId="{5C9A877C-CC27-2645-93E0-D6AE6881187D}" type="presOf" srcId="{6ECB1C56-2445-554F-811A-0368A3A75DAE}" destId="{CAC10EC8-4232-5546-8595-148F5DA057CE}" srcOrd="0" destOrd="0" presId="urn:microsoft.com/office/officeart/2005/8/layout/process1"/>
    <dgm:cxn modelId="{B302A483-9A16-DB4E-9C6E-9BB4BFFFE242}" type="presOf" srcId="{5FCAC674-5450-FB45-B841-C10ACF3C6AD2}" destId="{650584B5-47DE-DC4D-A80D-17C116A63C86}" srcOrd="0" destOrd="0" presId="urn:microsoft.com/office/officeart/2005/8/layout/process1"/>
    <dgm:cxn modelId="{F8F8DF97-AB39-2E45-994A-82F0D3579833}" type="presOf" srcId="{B588900B-05BE-5B4A-A733-EAC6D3CFACB4}" destId="{F23D1680-E026-304B-8953-ABE081342C47}" srcOrd="1" destOrd="0" presId="urn:microsoft.com/office/officeart/2005/8/layout/process1"/>
    <dgm:cxn modelId="{44AAAFA8-6B0A-DA4A-B222-825857A2094D}" type="presOf" srcId="{81C8000C-070E-974E-9211-9199A0BBBD83}" destId="{6E52FBDE-BEFE-234D-833C-664436EA1E1B}" srcOrd="0" destOrd="0" presId="urn:microsoft.com/office/officeart/2005/8/layout/process1"/>
    <dgm:cxn modelId="{8CD60FAA-BF52-4B4A-AAEA-19CB1DFE46FD}" type="presOf" srcId="{3CF44B6E-E78D-A74D-BC1D-32D5314A3A66}" destId="{713DA976-ADE0-ED4C-95AE-BC3F84EBEA44}" srcOrd="0" destOrd="0" presId="urn:microsoft.com/office/officeart/2005/8/layout/process1"/>
    <dgm:cxn modelId="{2D117ABE-D61A-064B-87B1-8A49999A3FB2}" type="presOf" srcId="{1F22B4E1-AAB3-0B45-A8D6-935121879A1C}" destId="{62901A25-6B9C-B049-B86E-447F39FA1AA6}" srcOrd="0" destOrd="0" presId="urn:microsoft.com/office/officeart/2005/8/layout/process1"/>
    <dgm:cxn modelId="{0E6C1CC1-F4AC-BF45-A90E-79575EADB358}" srcId="{55957C58-A243-EB41-835F-3A29D26CF9A0}" destId="{E25A4AAC-1D30-9547-A17F-1B512D6CB85D}" srcOrd="5" destOrd="0" parTransId="{C2658BC6-1A32-8849-BCC5-8D9E5827D408}" sibTransId="{00B7BCF5-4A9F-164C-B9F8-95745BB8CE87}"/>
    <dgm:cxn modelId="{79C5F2CF-779D-0E48-B1EF-42A5BFA03778}" type="presOf" srcId="{4758CB0C-B005-1A44-A50B-3E978D9C19E3}" destId="{A3C85CF6-F342-2149-8485-812C540479A6}" srcOrd="1" destOrd="0" presId="urn:microsoft.com/office/officeart/2005/8/layout/process1"/>
    <dgm:cxn modelId="{909C23D5-AF48-FF47-A814-ED3E80BAA75A}" type="presOf" srcId="{E25A4AAC-1D30-9547-A17F-1B512D6CB85D}" destId="{22B1308C-4B14-D547-8CDB-ACBD0F6D20F6}" srcOrd="0" destOrd="0" presId="urn:microsoft.com/office/officeart/2005/8/layout/process1"/>
    <dgm:cxn modelId="{778F8FD6-E995-CC47-87C8-ACD1B7B4C978}" type="presOf" srcId="{B588900B-05BE-5B4A-A733-EAC6D3CFACB4}" destId="{84404A5D-038F-A94B-9882-573CB0463DDF}" srcOrd="0" destOrd="0" presId="urn:microsoft.com/office/officeart/2005/8/layout/process1"/>
    <dgm:cxn modelId="{267778EA-1731-6F44-A81C-715DEB4C031C}" srcId="{55957C58-A243-EB41-835F-3A29D26CF9A0}" destId="{1F22B4E1-AAB3-0B45-A8D6-935121879A1C}" srcOrd="2" destOrd="0" parTransId="{3B40F799-AB2E-CC47-BB62-A3943D737A5C}" sibTransId="{4758CB0C-B005-1A44-A50B-3E978D9C19E3}"/>
    <dgm:cxn modelId="{081B0BFC-8F4E-C84E-A065-E061B156E6F4}" type="presOf" srcId="{1E67AC87-9106-F34E-8CD5-26F4FA17A767}" destId="{4CF8D194-995A-6F41-80CE-F30A92297901}" srcOrd="1" destOrd="0" presId="urn:microsoft.com/office/officeart/2005/8/layout/process1"/>
    <dgm:cxn modelId="{BCFDB2FD-9C06-3F41-A82A-5C1EE74AD618}" type="presOf" srcId="{1E67AC87-9106-F34E-8CD5-26F4FA17A767}" destId="{85E73927-9B59-F14F-AECF-D5A648DD2EAF}" srcOrd="0" destOrd="0" presId="urn:microsoft.com/office/officeart/2005/8/layout/process1"/>
    <dgm:cxn modelId="{BB984B84-C808-4943-AE99-633EE9D33DB6}" type="presParOf" srcId="{27DF80F7-BE31-8342-9EC0-A25612DD0F53}" destId="{9BDFE7C5-372D-8942-8B5B-BDE92442E5E3}" srcOrd="0" destOrd="0" presId="urn:microsoft.com/office/officeart/2005/8/layout/process1"/>
    <dgm:cxn modelId="{45426E23-BCB1-5B48-A38D-53E9CFED1D51}" type="presParOf" srcId="{27DF80F7-BE31-8342-9EC0-A25612DD0F53}" destId="{85E73927-9B59-F14F-AECF-D5A648DD2EAF}" srcOrd="1" destOrd="0" presId="urn:microsoft.com/office/officeart/2005/8/layout/process1"/>
    <dgm:cxn modelId="{0B5C87D3-CD0A-4541-BEFB-817908DA7ACE}" type="presParOf" srcId="{85E73927-9B59-F14F-AECF-D5A648DD2EAF}" destId="{4CF8D194-995A-6F41-80CE-F30A92297901}" srcOrd="0" destOrd="0" presId="urn:microsoft.com/office/officeart/2005/8/layout/process1"/>
    <dgm:cxn modelId="{E66A858B-59C2-6F4F-A60A-895ABDCD0DB5}" type="presParOf" srcId="{27DF80F7-BE31-8342-9EC0-A25612DD0F53}" destId="{7580283E-CDDE-F24A-BCA5-23BCD7F20F4D}" srcOrd="2" destOrd="0" presId="urn:microsoft.com/office/officeart/2005/8/layout/process1"/>
    <dgm:cxn modelId="{3D3D5D22-0FFB-0B49-915E-4B2388FAF6BA}" type="presParOf" srcId="{27DF80F7-BE31-8342-9EC0-A25612DD0F53}" destId="{84404A5D-038F-A94B-9882-573CB0463DDF}" srcOrd="3" destOrd="0" presId="urn:microsoft.com/office/officeart/2005/8/layout/process1"/>
    <dgm:cxn modelId="{F5D5AE97-7C88-2C49-B159-D7DCE442C5C4}" type="presParOf" srcId="{84404A5D-038F-A94B-9882-573CB0463DDF}" destId="{F23D1680-E026-304B-8953-ABE081342C47}" srcOrd="0" destOrd="0" presId="urn:microsoft.com/office/officeart/2005/8/layout/process1"/>
    <dgm:cxn modelId="{B9505208-9AC0-FD45-BC97-965E44F8783E}" type="presParOf" srcId="{27DF80F7-BE31-8342-9EC0-A25612DD0F53}" destId="{62901A25-6B9C-B049-B86E-447F39FA1AA6}" srcOrd="4" destOrd="0" presId="urn:microsoft.com/office/officeart/2005/8/layout/process1"/>
    <dgm:cxn modelId="{189652B8-1760-284E-A8AC-2F6FDF22BBB0}" type="presParOf" srcId="{27DF80F7-BE31-8342-9EC0-A25612DD0F53}" destId="{0C90A55F-D48A-DC4E-B9EA-3EC936306661}" srcOrd="5" destOrd="0" presId="urn:microsoft.com/office/officeart/2005/8/layout/process1"/>
    <dgm:cxn modelId="{4B5A879F-05C3-8D4F-92C3-C16E2F654613}" type="presParOf" srcId="{0C90A55F-D48A-DC4E-B9EA-3EC936306661}" destId="{A3C85CF6-F342-2149-8485-812C540479A6}" srcOrd="0" destOrd="0" presId="urn:microsoft.com/office/officeart/2005/8/layout/process1"/>
    <dgm:cxn modelId="{9ABFE36D-B24B-B044-A9E8-4B8BFEBECAA9}" type="presParOf" srcId="{27DF80F7-BE31-8342-9EC0-A25612DD0F53}" destId="{CAC10EC8-4232-5546-8595-148F5DA057CE}" srcOrd="6" destOrd="0" presId="urn:microsoft.com/office/officeart/2005/8/layout/process1"/>
    <dgm:cxn modelId="{BF8AC528-CEB7-AA40-A0FC-FFEFCA2D5CA5}" type="presParOf" srcId="{27DF80F7-BE31-8342-9EC0-A25612DD0F53}" destId="{650584B5-47DE-DC4D-A80D-17C116A63C86}" srcOrd="7" destOrd="0" presId="urn:microsoft.com/office/officeart/2005/8/layout/process1"/>
    <dgm:cxn modelId="{B2441B9E-75A1-4B43-9526-809AA5444FE0}" type="presParOf" srcId="{650584B5-47DE-DC4D-A80D-17C116A63C86}" destId="{F2115BBB-7401-1F49-AE5F-5B4EDDBF11BC}" srcOrd="0" destOrd="0" presId="urn:microsoft.com/office/officeart/2005/8/layout/process1"/>
    <dgm:cxn modelId="{0C114781-974D-0A4C-9BED-977DDC7102B7}" type="presParOf" srcId="{27DF80F7-BE31-8342-9EC0-A25612DD0F53}" destId="{713DA976-ADE0-ED4C-95AE-BC3F84EBEA44}" srcOrd="8" destOrd="0" presId="urn:microsoft.com/office/officeart/2005/8/layout/process1"/>
    <dgm:cxn modelId="{25E22FAD-12B9-6F4F-BA19-5459B349DF28}" type="presParOf" srcId="{27DF80F7-BE31-8342-9EC0-A25612DD0F53}" destId="{6E52FBDE-BEFE-234D-833C-664436EA1E1B}" srcOrd="9" destOrd="0" presId="urn:microsoft.com/office/officeart/2005/8/layout/process1"/>
    <dgm:cxn modelId="{245169BB-2B03-7042-9907-E8FBCF2924BC}" type="presParOf" srcId="{6E52FBDE-BEFE-234D-833C-664436EA1E1B}" destId="{6209D4DC-0004-9547-B356-CBCF19FDDDAD}" srcOrd="0" destOrd="0" presId="urn:microsoft.com/office/officeart/2005/8/layout/process1"/>
    <dgm:cxn modelId="{107DDE5A-8260-034F-BB84-1B13F705A45B}" type="presParOf" srcId="{27DF80F7-BE31-8342-9EC0-A25612DD0F53}" destId="{22B1308C-4B14-D547-8CDB-ACBD0F6D20F6}" srcOrd="1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DFE7C5-372D-8942-8B5B-BDE92442E5E3}">
      <dsp:nvSpPr>
        <dsp:cNvPr id="0" name=""/>
        <dsp:cNvSpPr/>
      </dsp:nvSpPr>
      <dsp:spPr>
        <a:xfrm>
          <a:off x="0" y="1297850"/>
          <a:ext cx="1314449" cy="175563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Design basic programme</a:t>
          </a:r>
        </a:p>
      </dsp:txBody>
      <dsp:txXfrm>
        <a:off x="38499" y="1336349"/>
        <a:ext cx="1237451" cy="1678639"/>
      </dsp:txXfrm>
    </dsp:sp>
    <dsp:sp modelId="{85E73927-9B59-F14F-AECF-D5A648DD2EAF}">
      <dsp:nvSpPr>
        <dsp:cNvPr id="0" name=""/>
        <dsp:cNvSpPr/>
      </dsp:nvSpPr>
      <dsp:spPr>
        <a:xfrm>
          <a:off x="1445895" y="2012677"/>
          <a:ext cx="278663" cy="32598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100" kern="1200"/>
        </a:p>
      </dsp:txBody>
      <dsp:txXfrm>
        <a:off x="1445895" y="2077874"/>
        <a:ext cx="195064" cy="195589"/>
      </dsp:txXfrm>
    </dsp:sp>
    <dsp:sp modelId="{7580283E-CDDE-F24A-BCA5-23BCD7F20F4D}">
      <dsp:nvSpPr>
        <dsp:cNvPr id="0" name=""/>
        <dsp:cNvSpPr/>
      </dsp:nvSpPr>
      <dsp:spPr>
        <a:xfrm>
          <a:off x="1840230" y="1297850"/>
          <a:ext cx="1314449" cy="175563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Teach programme to identify normal blood cells</a:t>
          </a:r>
        </a:p>
      </dsp:txBody>
      <dsp:txXfrm>
        <a:off x="1878729" y="1336349"/>
        <a:ext cx="1237451" cy="1678639"/>
      </dsp:txXfrm>
    </dsp:sp>
    <dsp:sp modelId="{84404A5D-038F-A94B-9882-573CB0463DDF}">
      <dsp:nvSpPr>
        <dsp:cNvPr id="0" name=""/>
        <dsp:cNvSpPr/>
      </dsp:nvSpPr>
      <dsp:spPr>
        <a:xfrm>
          <a:off x="3286125" y="2012677"/>
          <a:ext cx="278663" cy="32598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100" kern="1200"/>
        </a:p>
      </dsp:txBody>
      <dsp:txXfrm>
        <a:off x="3286125" y="2077874"/>
        <a:ext cx="195064" cy="195589"/>
      </dsp:txXfrm>
    </dsp:sp>
    <dsp:sp modelId="{62901A25-6B9C-B049-B86E-447F39FA1AA6}">
      <dsp:nvSpPr>
        <dsp:cNvPr id="0" name=""/>
        <dsp:cNvSpPr/>
      </dsp:nvSpPr>
      <dsp:spPr>
        <a:xfrm>
          <a:off x="3680460" y="1297850"/>
          <a:ext cx="1314449" cy="175563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Teach programme to identify abnormal blood cells</a:t>
          </a:r>
        </a:p>
      </dsp:txBody>
      <dsp:txXfrm>
        <a:off x="3718959" y="1336349"/>
        <a:ext cx="1237451" cy="1678639"/>
      </dsp:txXfrm>
    </dsp:sp>
    <dsp:sp modelId="{0C90A55F-D48A-DC4E-B9EA-3EC936306661}">
      <dsp:nvSpPr>
        <dsp:cNvPr id="0" name=""/>
        <dsp:cNvSpPr/>
      </dsp:nvSpPr>
      <dsp:spPr>
        <a:xfrm>
          <a:off x="5126355" y="2012677"/>
          <a:ext cx="278663" cy="32598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100" kern="1200"/>
        </a:p>
      </dsp:txBody>
      <dsp:txXfrm>
        <a:off x="5126355" y="2077874"/>
        <a:ext cx="195064" cy="195589"/>
      </dsp:txXfrm>
    </dsp:sp>
    <dsp:sp modelId="{CAC10EC8-4232-5546-8595-148F5DA057CE}">
      <dsp:nvSpPr>
        <dsp:cNvPr id="0" name=""/>
        <dsp:cNvSpPr/>
      </dsp:nvSpPr>
      <dsp:spPr>
        <a:xfrm>
          <a:off x="5520690" y="1297850"/>
          <a:ext cx="1314449" cy="175563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Teach programme to identify diseases associated with abnormal blood cells</a:t>
          </a:r>
        </a:p>
      </dsp:txBody>
      <dsp:txXfrm>
        <a:off x="5559189" y="1336349"/>
        <a:ext cx="1237451" cy="1678639"/>
      </dsp:txXfrm>
    </dsp:sp>
    <dsp:sp modelId="{650584B5-47DE-DC4D-A80D-17C116A63C86}">
      <dsp:nvSpPr>
        <dsp:cNvPr id="0" name=""/>
        <dsp:cNvSpPr/>
      </dsp:nvSpPr>
      <dsp:spPr>
        <a:xfrm>
          <a:off x="6966585" y="2012677"/>
          <a:ext cx="278663" cy="32598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100" kern="1200"/>
        </a:p>
      </dsp:txBody>
      <dsp:txXfrm>
        <a:off x="6966585" y="2077874"/>
        <a:ext cx="195064" cy="195589"/>
      </dsp:txXfrm>
    </dsp:sp>
    <dsp:sp modelId="{713DA976-ADE0-ED4C-95AE-BC3F84EBEA44}">
      <dsp:nvSpPr>
        <dsp:cNvPr id="0" name=""/>
        <dsp:cNvSpPr/>
      </dsp:nvSpPr>
      <dsp:spPr>
        <a:xfrm>
          <a:off x="7360920" y="1297850"/>
          <a:ext cx="1314449" cy="175563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Teach programme to integrate itself with other blood results e.g. FBC associated with diseases</a:t>
          </a:r>
        </a:p>
      </dsp:txBody>
      <dsp:txXfrm>
        <a:off x="7399419" y="1336349"/>
        <a:ext cx="1237451" cy="1678639"/>
      </dsp:txXfrm>
    </dsp:sp>
    <dsp:sp modelId="{6E52FBDE-BEFE-234D-833C-664436EA1E1B}">
      <dsp:nvSpPr>
        <dsp:cNvPr id="0" name=""/>
        <dsp:cNvSpPr/>
      </dsp:nvSpPr>
      <dsp:spPr>
        <a:xfrm>
          <a:off x="8806814" y="2012677"/>
          <a:ext cx="278663" cy="32598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100" kern="1200"/>
        </a:p>
      </dsp:txBody>
      <dsp:txXfrm>
        <a:off x="8806814" y="2077874"/>
        <a:ext cx="195064" cy="195589"/>
      </dsp:txXfrm>
    </dsp:sp>
    <dsp:sp modelId="{22B1308C-4B14-D547-8CDB-ACBD0F6D20F6}">
      <dsp:nvSpPr>
        <dsp:cNvPr id="0" name=""/>
        <dsp:cNvSpPr/>
      </dsp:nvSpPr>
      <dsp:spPr>
        <a:xfrm>
          <a:off x="9201149" y="1297850"/>
          <a:ext cx="1314449" cy="175563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Deliver diagnostic report</a:t>
          </a:r>
        </a:p>
      </dsp:txBody>
      <dsp:txXfrm>
        <a:off x="9239648" y="1336349"/>
        <a:ext cx="1237451" cy="167863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1D796-4960-5F3D-A29B-9F5F06888F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103783-A7E2-3C15-874B-3DDEA83504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4069B0-7327-55D7-FE30-90C31E58A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19FBC-3BA2-6545-BB30-7EDDC402114C}" type="datetimeFigureOut">
              <a:rPr lang="en-GB" smtClean="0"/>
              <a:t>28/09/2025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678F5D-361B-9747-A9B4-33157CAC7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EB0083-70E9-CFB1-AD1C-97325A2B6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E1B22-04E7-7D44-B055-6846342B39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81301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F7A41-4344-5340-3219-2982DCBC1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B9C9C8-50FD-07B2-7CDB-49CD2D70B4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C19456-F5E4-6137-5BF9-17F34AF74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19FBC-3BA2-6545-BB30-7EDDC402114C}" type="datetimeFigureOut">
              <a:rPr lang="en-GB" smtClean="0"/>
              <a:t>28/09/2025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C6968E-2BDC-7A64-E772-B232D390A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C4716A-E8D9-61A7-55AB-F6E077938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E1B22-04E7-7D44-B055-6846342B39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13694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2A00A-8BD3-8798-55AC-BFC494580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C93BD-C363-E80A-EDF4-88B08DC3EE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C75E73-94D0-4CC3-D013-63B2E4590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19FBC-3BA2-6545-BB30-7EDDC402114C}" type="datetimeFigureOut">
              <a:rPr lang="en-GB" smtClean="0"/>
              <a:t>28/09/2025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269007-C11B-ED2C-4322-16A76ECD9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974AB7-7DDF-9409-3194-67D614FFE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E1B22-04E7-7D44-B055-6846342B39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2523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7C002-5146-64F6-CCCB-EE7973C4C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C2BFF-ACE5-A9BF-E2D1-4B92735B5B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2D59E0-A5B7-9A1E-FE2C-CBE8D4EA41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7E574A-1178-79B5-20ED-85D78F503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19FBC-3BA2-6545-BB30-7EDDC402114C}" type="datetimeFigureOut">
              <a:rPr lang="en-GB" smtClean="0"/>
              <a:t>28/09/2025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80C43C-4770-96A5-FE27-FADABCB40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47CA74-9980-9D2E-97E9-26051B7C2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E1B22-04E7-7D44-B055-6846342B39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7319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5BE67-B245-91F3-4E00-D5345A525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1C75F1-1201-A42A-492C-2C4A13A5CB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638588-9D95-A85E-BF43-2D4146F939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FD798A-9CA5-4917-3670-24B2D97842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86DB61-62B0-CA29-EF84-5296B937F3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47EA70-B34D-8CDB-F9B6-E393A98F9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19FBC-3BA2-6545-BB30-7EDDC402114C}" type="datetimeFigureOut">
              <a:rPr lang="en-GB" smtClean="0"/>
              <a:t>28/09/2025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0473EA-2CB3-41FF-C742-D3CC01868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3B91F8-B042-0279-8115-3A0E07D85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E1B22-04E7-7D44-B055-6846342B39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84395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0F18C-14B0-CD08-221F-EAC586F1F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E10D0A-1777-94D1-5603-1DD275A7C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19FBC-3BA2-6545-BB30-7EDDC402114C}" type="datetimeFigureOut">
              <a:rPr lang="en-GB" smtClean="0"/>
              <a:t>28/09/2025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8A2B72-2BD6-5F1A-1DF7-61DC808A6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944F23-9214-2E89-9D47-248240A55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E1B22-04E7-7D44-B055-6846342B39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18334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968738-FA34-5D8F-62B2-65A577F0B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19FBC-3BA2-6545-BB30-7EDDC402114C}" type="datetimeFigureOut">
              <a:rPr lang="en-GB" smtClean="0"/>
              <a:t>28/09/2025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5CAF18-FB3B-8FE4-D0F8-770C518AA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844467-64E3-87C2-52F1-1F879D05D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E1B22-04E7-7D44-B055-6846342B39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74228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6D0C3-BC32-42C3-088A-09B2D87CD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4FB6D2-559B-86F5-10A8-A829B23065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6BFEF7-C6FC-20D9-3215-419DC2599A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C3FCAF-F6C0-BE3D-657D-399A600C1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19FBC-3BA2-6545-BB30-7EDDC402114C}" type="datetimeFigureOut">
              <a:rPr lang="en-GB" smtClean="0"/>
              <a:t>28/09/2025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714548-B062-ED1E-85DB-FCC108384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64F217-891B-9CBB-5819-66E6E4CBD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E1B22-04E7-7D44-B055-6846342B39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47772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380F7-EB2A-38A5-6778-51911F6DF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DBE9BA-5751-A3EB-EFF9-BBD4D89DD3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650183-BF41-6D53-E535-8288763A38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73446D-9869-8035-D86F-4DD34A6C7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19FBC-3BA2-6545-BB30-7EDDC402114C}" type="datetimeFigureOut">
              <a:rPr lang="en-GB" smtClean="0"/>
              <a:t>28/09/2025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AAC22B-756B-A23A-D4AA-947404908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937D66-9758-9381-8729-8C5869E4F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E1B22-04E7-7D44-B055-6846342B39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58933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23B9A-5D23-ADEE-A6AE-19F03E30D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659228-586C-037F-2F9A-7FB34B249A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94C1F4-A69F-54D2-E992-8161D067C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19FBC-3BA2-6545-BB30-7EDDC402114C}" type="datetimeFigureOut">
              <a:rPr lang="en-GB" smtClean="0"/>
              <a:t>28/09/2025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8F56DA-1A57-C1F7-147B-6DD3320F5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B4CE9F-9BA7-8E20-44F8-109097C27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E1B22-04E7-7D44-B055-6846342B39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08358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56C58F3-ACB9-FF8B-DCD6-F462330F9A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38AFCA-CF8B-8D20-18BD-34C33925E4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64A46F-5528-D578-CC55-F0E689427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19FBC-3BA2-6545-BB30-7EDDC402114C}" type="datetimeFigureOut">
              <a:rPr lang="en-GB" smtClean="0"/>
              <a:t>28/09/2025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DE0D56-5139-1564-163F-6E61394EC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A92D86-3982-4848-73C9-FC5553748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E1B22-04E7-7D44-B055-6846342B39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9101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29302B-AB74-4910-2B5F-AFD56E63C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A33EF5-7EAD-F166-79D9-9BF8C3173D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F2DD58-405C-58AD-4F02-B8EAB3AD85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C19FBC-3BA2-6545-BB30-7EDDC402114C}" type="datetimeFigureOut">
              <a:rPr lang="en-GB" smtClean="0"/>
              <a:t>28/09/2025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D8DFB0-EBFE-2F78-E760-501347C231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7FB990-8BB1-1B7B-9234-71F3A2E290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AE1B22-04E7-7D44-B055-6846342B39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0219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EFC89-BC51-69BD-D603-6AD4522AC15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err="1"/>
              <a:t>Bentara</a:t>
            </a:r>
            <a:r>
              <a:rPr lang="en-GB" dirty="0"/>
              <a:t> Technologies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5F3544-460F-ED77-F081-BEE037FA99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 Nathaniel Bailie, CEO</a:t>
            </a:r>
          </a:p>
        </p:txBody>
      </p:sp>
    </p:spTree>
    <p:extLst>
      <p:ext uri="{BB962C8B-B14F-4D97-AF65-F5344CB8AC3E}">
        <p14:creationId xmlns:p14="http://schemas.microsoft.com/office/powerpoint/2010/main" val="18058856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D91F1-6B4A-E22D-765C-E49E0F04F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GB" dirty="0"/>
              <a:t>Mission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59B62E-DF42-F082-3051-826C2FF95A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GB" dirty="0"/>
              <a:t>The Indonesian word </a:t>
            </a:r>
            <a:r>
              <a:rPr lang="en-GB" dirty="0" err="1"/>
              <a:t>bentara</a:t>
            </a:r>
            <a:r>
              <a:rPr lang="en-GB" dirty="0"/>
              <a:t> translates to "herald" or "usher". It can also refer to a "royal messenger" or someone who announces or introduces something important</a:t>
            </a:r>
          </a:p>
          <a:p>
            <a:pPr algn="just"/>
            <a:endParaRPr lang="en-GB" dirty="0"/>
          </a:p>
          <a:p>
            <a:pPr algn="just"/>
            <a:r>
              <a:rPr lang="en-GB" dirty="0"/>
              <a:t>Goal is to increase the reliability of diagnosis, the speed of diagnosis, and the efficacy of treatment for patients across the globe</a:t>
            </a:r>
          </a:p>
        </p:txBody>
      </p:sp>
    </p:spTree>
    <p:extLst>
      <p:ext uri="{BB962C8B-B14F-4D97-AF65-F5344CB8AC3E}">
        <p14:creationId xmlns:p14="http://schemas.microsoft.com/office/powerpoint/2010/main" val="20177559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90F18-C231-2509-AAE4-857C97BB3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2BDCA0-C6B5-1CC0-1293-F82FFFD4EE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GB" dirty="0"/>
              <a:t>Nathaniel Bailie – CEO: </a:t>
            </a:r>
          </a:p>
          <a:p>
            <a:pPr lvl="1" algn="just"/>
            <a:r>
              <a:rPr lang="en-GB" dirty="0"/>
              <a:t>BSc (Hons) Economics (QUB)</a:t>
            </a:r>
          </a:p>
          <a:p>
            <a:pPr lvl="1" algn="just"/>
            <a:r>
              <a:rPr lang="en-GB" dirty="0"/>
              <a:t>MBBS (UU)</a:t>
            </a:r>
          </a:p>
          <a:p>
            <a:pPr algn="just"/>
            <a:endParaRPr lang="en-GB" dirty="0"/>
          </a:p>
          <a:p>
            <a:pPr algn="just"/>
            <a:r>
              <a:rPr lang="en-GB" dirty="0"/>
              <a:t>Hiring plans:</a:t>
            </a:r>
          </a:p>
          <a:p>
            <a:pPr lvl="1" algn="just"/>
            <a:r>
              <a:rPr lang="en-GB" dirty="0"/>
              <a:t>Software developer with an interest in AI</a:t>
            </a:r>
          </a:p>
          <a:p>
            <a:pPr lvl="1" algn="just"/>
            <a:r>
              <a:rPr lang="en-GB" dirty="0"/>
              <a:t>Consultant haematologist</a:t>
            </a:r>
          </a:p>
          <a:p>
            <a:pPr lvl="1" algn="just"/>
            <a:r>
              <a:rPr lang="en-GB" dirty="0"/>
              <a:t>Haematology registrars</a:t>
            </a:r>
          </a:p>
          <a:p>
            <a:pPr lvl="1" algn="just"/>
            <a:r>
              <a:rPr lang="en-GB" dirty="0"/>
              <a:t>Legal team</a:t>
            </a:r>
          </a:p>
        </p:txBody>
      </p:sp>
    </p:spTree>
    <p:extLst>
      <p:ext uri="{BB962C8B-B14F-4D97-AF65-F5344CB8AC3E}">
        <p14:creationId xmlns:p14="http://schemas.microsoft.com/office/powerpoint/2010/main" val="23039923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C5B6E-7E21-1592-288E-E2E32364E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067EFE-BE88-161B-02A7-E2B0A93B52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GB" dirty="0"/>
              <a:t>Relying on highly skilled humans to make a diagnosis from looking at a peripheral blood film is time consuming and has potential for variability and therefore error</a:t>
            </a:r>
          </a:p>
          <a:p>
            <a:pPr algn="just"/>
            <a:endParaRPr lang="en-GB" dirty="0"/>
          </a:p>
          <a:p>
            <a:pPr algn="just"/>
            <a:r>
              <a:rPr lang="en-GB" dirty="0"/>
              <a:t>Lack of availability of haematologists at every healthcare facility and access to rapid diagnosis of haematological conditions which can be life threatening</a:t>
            </a:r>
          </a:p>
        </p:txBody>
      </p:sp>
    </p:spTree>
    <p:extLst>
      <p:ext uri="{BB962C8B-B14F-4D97-AF65-F5344CB8AC3E}">
        <p14:creationId xmlns:p14="http://schemas.microsoft.com/office/powerpoint/2010/main" val="17498143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05195-CE55-367A-94C6-B5CE346BC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Lab Workflow (Current)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F5C6D-E5F3-759B-CA2A-5A6E35C8AC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7729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36AA9-24B9-0CBD-24EA-578B4E250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Lab Workflow (with </a:t>
            </a:r>
            <a:r>
              <a:rPr lang="en-GB" dirty="0" err="1"/>
              <a:t>Bentara</a:t>
            </a:r>
            <a:r>
              <a:rPr lang="en-GB" dirty="0"/>
              <a:t> Technologies)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FBAAAF-3D9F-68F1-2B1A-AA0191A1E7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03497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C6703-D534-66C3-48E1-5614AC0FB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Product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A29EE9-0CA9-9CA4-E413-DC59884D12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just"/>
            <a:r>
              <a:rPr lang="en-GB" dirty="0"/>
              <a:t>Create AI software to identify blood cells on peripheral blood film to aid the diagnosis and treatment of haematological conditions:</a:t>
            </a:r>
          </a:p>
          <a:p>
            <a:pPr lvl="1" algn="just"/>
            <a:r>
              <a:rPr lang="en-GB" dirty="0"/>
              <a:t>Model type – neural network (CNN)</a:t>
            </a:r>
          </a:p>
          <a:p>
            <a:pPr lvl="1" algn="just"/>
            <a:r>
              <a:rPr lang="en-GB" dirty="0"/>
              <a:t>Language – Python</a:t>
            </a:r>
          </a:p>
          <a:p>
            <a:pPr algn="just"/>
            <a:endParaRPr lang="en-GB" dirty="0"/>
          </a:p>
          <a:p>
            <a:pPr algn="just"/>
            <a:r>
              <a:rPr lang="en-GB" dirty="0"/>
              <a:t>Identify:</a:t>
            </a:r>
          </a:p>
          <a:p>
            <a:pPr lvl="1" algn="just"/>
            <a:r>
              <a:rPr lang="en-GB" dirty="0"/>
              <a:t>Cell type</a:t>
            </a:r>
          </a:p>
          <a:p>
            <a:pPr lvl="1" algn="just"/>
            <a:r>
              <a:rPr lang="en-GB" dirty="0"/>
              <a:t>Morphology</a:t>
            </a:r>
          </a:p>
          <a:p>
            <a:pPr lvl="1" algn="just"/>
            <a:r>
              <a:rPr lang="en-GB" dirty="0"/>
              <a:t>% of total blood film</a:t>
            </a:r>
          </a:p>
          <a:p>
            <a:pPr marL="457200" lvl="1" indent="0" algn="just">
              <a:buNone/>
            </a:pPr>
            <a:endParaRPr lang="en-GB" dirty="0"/>
          </a:p>
          <a:p>
            <a:pPr algn="just"/>
            <a:r>
              <a:rPr lang="en-GB" dirty="0"/>
              <a:t>Produce a report on the blood film and link in with other blood test data to produce a differential diagnosis to aid the speed and efficacy of treatment</a:t>
            </a:r>
          </a:p>
          <a:p>
            <a:pPr algn="just"/>
            <a:endParaRPr lang="en-GB" dirty="0"/>
          </a:p>
          <a:p>
            <a:pPr algn="just"/>
            <a:r>
              <a:rPr lang="en-GB" dirty="0"/>
              <a:t>Easy integration with lab equipment for blood testing through partnerships with manufacturers</a:t>
            </a:r>
          </a:p>
        </p:txBody>
      </p:sp>
    </p:spTree>
    <p:extLst>
      <p:ext uri="{BB962C8B-B14F-4D97-AF65-F5344CB8AC3E}">
        <p14:creationId xmlns:p14="http://schemas.microsoft.com/office/powerpoint/2010/main" val="34138580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65DB2-6070-D534-B563-EF7CE61B7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0A60B5DF-5D1A-74BD-5370-E9C9CD0AD0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209223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2835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74FEC-1854-D745-A28C-549356E2B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GB" dirty="0"/>
              <a:t>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2CAFFB-B7A0-8BEC-1593-D2E35736A9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algn="just"/>
            <a:r>
              <a:rPr lang="en-GB" dirty="0"/>
              <a:t>Competition from existing technology/pharmaceutical firms</a:t>
            </a:r>
          </a:p>
          <a:p>
            <a:pPr algn="just"/>
            <a:endParaRPr lang="en-GB" dirty="0"/>
          </a:p>
          <a:p>
            <a:pPr algn="just"/>
            <a:r>
              <a:rPr lang="en-GB" dirty="0"/>
              <a:t>Costs:</a:t>
            </a:r>
          </a:p>
          <a:p>
            <a:pPr lvl="1" algn="just"/>
            <a:r>
              <a:rPr lang="en-GB" dirty="0"/>
              <a:t>Staff</a:t>
            </a:r>
          </a:p>
          <a:p>
            <a:pPr lvl="1" algn="just"/>
            <a:r>
              <a:rPr lang="en-GB" dirty="0"/>
              <a:t>IT equipment</a:t>
            </a:r>
          </a:p>
          <a:p>
            <a:pPr lvl="1" algn="just"/>
            <a:r>
              <a:rPr lang="en-GB" dirty="0"/>
              <a:t>Storage</a:t>
            </a:r>
          </a:p>
          <a:p>
            <a:pPr lvl="1" algn="just"/>
            <a:r>
              <a:rPr lang="en-GB" dirty="0"/>
              <a:t>Energy</a:t>
            </a:r>
          </a:p>
          <a:p>
            <a:pPr lvl="1" algn="just"/>
            <a:r>
              <a:rPr lang="en-GB" dirty="0"/>
              <a:t>Legal</a:t>
            </a:r>
          </a:p>
          <a:p>
            <a:pPr algn="just"/>
            <a:endParaRPr lang="en-GB" dirty="0"/>
          </a:p>
          <a:p>
            <a:pPr algn="just"/>
            <a:r>
              <a:rPr lang="en-GB" dirty="0"/>
              <a:t>Developing accurate software and obtaining sufficient training data</a:t>
            </a:r>
          </a:p>
          <a:p>
            <a:pPr algn="just"/>
            <a:endParaRPr lang="en-GB" dirty="0"/>
          </a:p>
          <a:p>
            <a:pPr algn="just"/>
            <a:r>
              <a:rPr lang="en-GB" dirty="0"/>
              <a:t>Regulatory approval from UKCA/MHRA/FDA etc.</a:t>
            </a:r>
          </a:p>
          <a:p>
            <a:pPr algn="just"/>
            <a:endParaRPr lang="en-GB" dirty="0"/>
          </a:p>
          <a:p>
            <a:pPr algn="just"/>
            <a:r>
              <a:rPr lang="en-GB" dirty="0"/>
              <a:t>Time to market vs competitors</a:t>
            </a:r>
          </a:p>
          <a:p>
            <a:pPr algn="just"/>
            <a:endParaRPr lang="en-GB" dirty="0"/>
          </a:p>
          <a:p>
            <a:pPr algn="just"/>
            <a:r>
              <a:rPr lang="en-GB" dirty="0"/>
              <a:t>Liabilities from inaccurate diagnosis</a:t>
            </a:r>
          </a:p>
          <a:p>
            <a:pPr algn="just"/>
            <a:endParaRPr lang="en-GB" dirty="0"/>
          </a:p>
          <a:p>
            <a:pPr algn="just"/>
            <a:r>
              <a:rPr lang="en-GB" dirty="0"/>
              <a:t>Marketing and building brand value to generate revenue</a:t>
            </a:r>
          </a:p>
          <a:p>
            <a:pPr algn="just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533954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C49A5-4EEB-D535-E3FF-6F848C632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Development Timeline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AB83A3-6012-1F47-5FF8-D973CE5C3A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GB" dirty="0"/>
              <a:t>Currently August 2025</a:t>
            </a:r>
          </a:p>
          <a:p>
            <a:pPr algn="just"/>
            <a:endParaRPr lang="en-GB" dirty="0"/>
          </a:p>
          <a:p>
            <a:pPr algn="just"/>
            <a:r>
              <a:rPr lang="en-GB" dirty="0"/>
              <a:t>Recruitment of additional team members by end of 2026 with product development underway</a:t>
            </a:r>
          </a:p>
          <a:p>
            <a:pPr algn="just"/>
            <a:endParaRPr lang="en-GB" dirty="0"/>
          </a:p>
          <a:p>
            <a:pPr algn="just"/>
            <a:r>
              <a:rPr lang="en-GB" dirty="0"/>
              <a:t>Hope to have beta version in testing by mid-2026 for clinical validation</a:t>
            </a:r>
          </a:p>
          <a:p>
            <a:pPr algn="just"/>
            <a:endParaRPr lang="en-GB" dirty="0"/>
          </a:p>
          <a:p>
            <a:pPr algn="just"/>
            <a:r>
              <a:rPr lang="en-GB" dirty="0"/>
              <a:t>Full product in early 2027 licenced for use in clinical setting</a:t>
            </a:r>
          </a:p>
          <a:p>
            <a:pPr algn="just"/>
            <a:endParaRPr lang="en-GB" dirty="0"/>
          </a:p>
          <a:p>
            <a:pPr algn="just"/>
            <a:r>
              <a:rPr lang="en-GB" dirty="0"/>
              <a:t>Aim to become profitable within five years of launch of product</a:t>
            </a:r>
          </a:p>
        </p:txBody>
      </p:sp>
    </p:spTree>
    <p:extLst>
      <p:ext uri="{BB962C8B-B14F-4D97-AF65-F5344CB8AC3E}">
        <p14:creationId xmlns:p14="http://schemas.microsoft.com/office/powerpoint/2010/main" val="41342983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28B9B-4747-DC2B-2718-98F0D342A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Competition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0A70A-1FE1-4B59-8274-60F44805E7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GB" dirty="0" err="1"/>
              <a:t>Scopio</a:t>
            </a:r>
            <a:r>
              <a:rPr lang="en-GB" dirty="0"/>
              <a:t> Labs</a:t>
            </a:r>
          </a:p>
          <a:p>
            <a:pPr algn="just"/>
            <a:endParaRPr lang="en-GB" dirty="0"/>
          </a:p>
          <a:p>
            <a:pPr algn="just"/>
            <a:r>
              <a:rPr lang="en-GB" dirty="0" err="1"/>
              <a:t>Mindpeak</a:t>
            </a:r>
            <a:endParaRPr lang="en-GB" dirty="0"/>
          </a:p>
          <a:p>
            <a:pPr algn="just"/>
            <a:endParaRPr lang="en-GB" dirty="0"/>
          </a:p>
          <a:p>
            <a:pPr algn="just"/>
            <a:r>
              <a:rPr lang="en-GB" dirty="0" err="1"/>
              <a:t>DeepBio</a:t>
            </a:r>
            <a:endParaRPr lang="en-GB" dirty="0"/>
          </a:p>
          <a:p>
            <a:pPr algn="just"/>
            <a:endParaRPr lang="en-GB" dirty="0"/>
          </a:p>
          <a:p>
            <a:pPr algn="just"/>
            <a:r>
              <a:rPr lang="en-GB" dirty="0"/>
              <a:t>Google Health</a:t>
            </a:r>
          </a:p>
        </p:txBody>
      </p:sp>
    </p:spTree>
    <p:extLst>
      <p:ext uri="{BB962C8B-B14F-4D97-AF65-F5344CB8AC3E}">
        <p14:creationId xmlns:p14="http://schemas.microsoft.com/office/powerpoint/2010/main" val="25526762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54E57-50B0-740F-3C6E-87DB0B37A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GB" dirty="0"/>
              <a:t>Target Market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3BE139-2128-4CA0-E8A6-5B533EB231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 algn="just"/>
            <a:r>
              <a:rPr lang="en-GB" dirty="0"/>
              <a:t>NHS trusts &amp; hospitals</a:t>
            </a:r>
          </a:p>
          <a:p>
            <a:pPr lvl="1" algn="just"/>
            <a:r>
              <a:rPr lang="en-GB" dirty="0"/>
              <a:t>NI – 5 trusts</a:t>
            </a:r>
          </a:p>
          <a:p>
            <a:pPr lvl="1" algn="just"/>
            <a:r>
              <a:rPr lang="en-GB" dirty="0"/>
              <a:t>England</a:t>
            </a:r>
          </a:p>
          <a:p>
            <a:pPr lvl="1" algn="just"/>
            <a:r>
              <a:rPr lang="en-GB" dirty="0"/>
              <a:t>Scotland</a:t>
            </a:r>
          </a:p>
          <a:p>
            <a:pPr lvl="1" algn="just"/>
            <a:r>
              <a:rPr lang="en-GB" dirty="0"/>
              <a:t>Wales</a:t>
            </a:r>
          </a:p>
          <a:p>
            <a:pPr algn="just"/>
            <a:endParaRPr lang="en-GB" dirty="0"/>
          </a:p>
          <a:p>
            <a:pPr algn="just"/>
            <a:r>
              <a:rPr lang="en-GB" dirty="0"/>
              <a:t>Private clinics</a:t>
            </a:r>
          </a:p>
          <a:p>
            <a:pPr algn="just"/>
            <a:endParaRPr lang="en-GB" dirty="0"/>
          </a:p>
          <a:p>
            <a:pPr algn="just"/>
            <a:r>
              <a:rPr lang="en-GB" dirty="0"/>
              <a:t>University laboratories</a:t>
            </a:r>
          </a:p>
          <a:p>
            <a:pPr algn="just"/>
            <a:endParaRPr lang="en-GB" dirty="0"/>
          </a:p>
          <a:p>
            <a:pPr algn="just"/>
            <a:r>
              <a:rPr lang="en-GB" dirty="0"/>
              <a:t>Veterinarian surgeries</a:t>
            </a:r>
          </a:p>
          <a:p>
            <a:pPr algn="just"/>
            <a:endParaRPr lang="en-GB" dirty="0"/>
          </a:p>
          <a:p>
            <a:pPr algn="just"/>
            <a:r>
              <a:rPr lang="en-GB" dirty="0"/>
              <a:t>Technology/pharmaceutical laboratories</a:t>
            </a:r>
          </a:p>
          <a:p>
            <a:pPr algn="just"/>
            <a:endParaRPr lang="en-GB" dirty="0"/>
          </a:p>
          <a:p>
            <a:pPr algn="just"/>
            <a:r>
              <a:rPr lang="en-GB" dirty="0"/>
              <a:t>Pharmacies</a:t>
            </a:r>
          </a:p>
          <a:p>
            <a:pPr algn="just"/>
            <a:endParaRPr lang="en-GB" dirty="0"/>
          </a:p>
          <a:p>
            <a:pPr algn="just"/>
            <a:r>
              <a:rPr lang="en-GB" dirty="0"/>
              <a:t>GP surgeries</a:t>
            </a:r>
          </a:p>
          <a:p>
            <a:pPr algn="just"/>
            <a:endParaRPr lang="en-GB" dirty="0"/>
          </a:p>
          <a:p>
            <a:pPr algn="just"/>
            <a:r>
              <a:rPr lang="en-GB" dirty="0"/>
              <a:t>Individuals</a:t>
            </a:r>
          </a:p>
        </p:txBody>
      </p:sp>
    </p:spTree>
    <p:extLst>
      <p:ext uri="{BB962C8B-B14F-4D97-AF65-F5344CB8AC3E}">
        <p14:creationId xmlns:p14="http://schemas.microsoft.com/office/powerpoint/2010/main" val="41716950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6F146-7F9A-ED47-47C2-1EBC4497C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GB" dirty="0"/>
              <a:t>Funding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168A15-D65A-25D2-821E-2D9D91B4C1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GB" dirty="0"/>
              <a:t>Need funding to hire new team members </a:t>
            </a:r>
          </a:p>
          <a:p>
            <a:pPr algn="just"/>
            <a:endParaRPr lang="en-GB" dirty="0"/>
          </a:p>
          <a:p>
            <a:pPr algn="just"/>
            <a:r>
              <a:rPr lang="en-GB" dirty="0"/>
              <a:t>Funding to access data to train models</a:t>
            </a:r>
          </a:p>
          <a:p>
            <a:pPr algn="just"/>
            <a:endParaRPr lang="en-GB" dirty="0"/>
          </a:p>
          <a:p>
            <a:pPr algn="just"/>
            <a:r>
              <a:rPr lang="en-GB" dirty="0"/>
              <a:t>Funding for cloud storage and software licences used in development</a:t>
            </a:r>
          </a:p>
          <a:p>
            <a:pPr algn="just"/>
            <a:endParaRPr lang="en-GB" dirty="0"/>
          </a:p>
          <a:p>
            <a:pPr algn="just"/>
            <a:r>
              <a:rPr lang="en-GB" dirty="0"/>
              <a:t>Need funding to help with legal and regulatory costs to ensure compliance obtained and liabilities minimised</a:t>
            </a:r>
          </a:p>
        </p:txBody>
      </p:sp>
    </p:spTree>
    <p:extLst>
      <p:ext uri="{BB962C8B-B14F-4D97-AF65-F5344CB8AC3E}">
        <p14:creationId xmlns:p14="http://schemas.microsoft.com/office/powerpoint/2010/main" val="40954348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A55BF-11F7-D138-DB69-1A134B14E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GB" dirty="0"/>
              <a:t>Revenue Streams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3CEA99-4772-F7B3-9F6A-DA92E87DE2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GB" dirty="0"/>
              <a:t>Charge per test</a:t>
            </a:r>
          </a:p>
          <a:p>
            <a:pPr algn="just"/>
            <a:endParaRPr lang="en-GB" dirty="0"/>
          </a:p>
          <a:p>
            <a:pPr algn="just"/>
            <a:r>
              <a:rPr lang="en-GB" dirty="0"/>
              <a:t>Licencing of software to users – pilot with initial NHS trust/pharmaceutical company, then expand into others when results become availability</a:t>
            </a:r>
          </a:p>
          <a:p>
            <a:pPr algn="just"/>
            <a:endParaRPr lang="en-GB" dirty="0"/>
          </a:p>
          <a:p>
            <a:pPr algn="just"/>
            <a:r>
              <a:rPr lang="en-GB" dirty="0"/>
              <a:t>M&amp;A with other firms operating in similar areas</a:t>
            </a:r>
          </a:p>
        </p:txBody>
      </p:sp>
    </p:spTree>
    <p:extLst>
      <p:ext uri="{BB962C8B-B14F-4D97-AF65-F5344CB8AC3E}">
        <p14:creationId xmlns:p14="http://schemas.microsoft.com/office/powerpoint/2010/main" val="20092499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E0BC5-8093-F9EB-E034-D6C03DF1C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GB" dirty="0"/>
              <a:t>Growth/Expansion Opportunities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1FB536-2D79-BD05-8224-C2AF94BD39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GB" dirty="0"/>
              <a:t>Analysis of further pathological specimens</a:t>
            </a:r>
          </a:p>
          <a:p>
            <a:pPr algn="just"/>
            <a:endParaRPr lang="en-GB" dirty="0"/>
          </a:p>
          <a:p>
            <a:pPr algn="just"/>
            <a:r>
              <a:rPr lang="en-GB" dirty="0"/>
              <a:t>Manufacturing and testing of own proprietary blood testing devices e.g. microscopes with integrated software</a:t>
            </a:r>
          </a:p>
          <a:p>
            <a:pPr algn="just"/>
            <a:endParaRPr lang="en-GB" dirty="0"/>
          </a:p>
          <a:p>
            <a:pPr algn="just"/>
            <a:r>
              <a:rPr lang="en-GB" dirty="0"/>
              <a:t>Pharmaceutical research – drug trials</a:t>
            </a:r>
          </a:p>
        </p:txBody>
      </p:sp>
    </p:spTree>
    <p:extLst>
      <p:ext uri="{BB962C8B-B14F-4D97-AF65-F5344CB8AC3E}">
        <p14:creationId xmlns:p14="http://schemas.microsoft.com/office/powerpoint/2010/main" val="16668924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988D0-0AB5-9A61-9A1E-987DFC2BA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GB" dirty="0"/>
              <a:t>Data 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2D677-AB9C-6475-854F-24EB0E62D0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GB" dirty="0"/>
              <a:t>NHS laboratories &amp; records</a:t>
            </a:r>
          </a:p>
          <a:p>
            <a:pPr algn="just"/>
            <a:endParaRPr lang="en-GB" dirty="0"/>
          </a:p>
          <a:p>
            <a:pPr algn="just"/>
            <a:r>
              <a:rPr lang="en-GB" dirty="0"/>
              <a:t>Open-source databases</a:t>
            </a:r>
          </a:p>
          <a:p>
            <a:pPr algn="just"/>
            <a:endParaRPr lang="en-GB" dirty="0"/>
          </a:p>
          <a:p>
            <a:pPr algn="just"/>
            <a:r>
              <a:rPr lang="en-GB" dirty="0"/>
              <a:t>Private collections</a:t>
            </a:r>
          </a:p>
          <a:p>
            <a:pPr algn="just"/>
            <a:endParaRPr lang="en-GB" dirty="0"/>
          </a:p>
          <a:p>
            <a:pPr algn="just"/>
            <a:r>
              <a:rPr lang="en-GB" dirty="0"/>
              <a:t>Will need to ensure patient anonymity when training model and obtain licence to use these images  </a:t>
            </a:r>
          </a:p>
        </p:txBody>
      </p:sp>
    </p:spTree>
    <p:extLst>
      <p:ext uri="{BB962C8B-B14F-4D97-AF65-F5344CB8AC3E}">
        <p14:creationId xmlns:p14="http://schemas.microsoft.com/office/powerpoint/2010/main" val="8550379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39C03-04F6-D107-7D4A-A1BBE6716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Cell Types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62BF897-BB79-748C-A213-4EC9F59C2B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27507275"/>
              </p:ext>
            </p:extLst>
          </p:nvPr>
        </p:nvGraphicFramePr>
        <p:xfrm>
          <a:off x="838200" y="1690688"/>
          <a:ext cx="10080000" cy="4846320"/>
        </p:xfrm>
        <a:graphic>
          <a:graphicData uri="http://schemas.openxmlformats.org/drawingml/2006/table">
            <a:tbl>
              <a:tblPr/>
              <a:tblGrid>
                <a:gridCol w="2520000">
                  <a:extLst>
                    <a:ext uri="{9D8B030D-6E8A-4147-A177-3AD203B41FA5}">
                      <a16:colId xmlns:a16="http://schemas.microsoft.com/office/drawing/2014/main" val="181411246"/>
                    </a:ext>
                  </a:extLst>
                </a:gridCol>
                <a:gridCol w="2520000">
                  <a:extLst>
                    <a:ext uri="{9D8B030D-6E8A-4147-A177-3AD203B41FA5}">
                      <a16:colId xmlns:a16="http://schemas.microsoft.com/office/drawing/2014/main" val="2186808446"/>
                    </a:ext>
                  </a:extLst>
                </a:gridCol>
                <a:gridCol w="2520000">
                  <a:extLst>
                    <a:ext uri="{9D8B030D-6E8A-4147-A177-3AD203B41FA5}">
                      <a16:colId xmlns:a16="http://schemas.microsoft.com/office/drawing/2014/main" val="3310437025"/>
                    </a:ext>
                  </a:extLst>
                </a:gridCol>
                <a:gridCol w="2520000">
                  <a:extLst>
                    <a:ext uri="{9D8B030D-6E8A-4147-A177-3AD203B41FA5}">
                      <a16:colId xmlns:a16="http://schemas.microsoft.com/office/drawing/2014/main" val="1328798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900" b="1"/>
                        <a:t>Cell Type</a:t>
                      </a:r>
                      <a:endParaRPr lang="en-GB" sz="9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900" b="1"/>
                        <a:t>Normal</a:t>
                      </a:r>
                      <a:endParaRPr lang="en-GB" sz="9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900" b="1"/>
                        <a:t>Pathologic / Abnormal</a:t>
                      </a:r>
                      <a:endParaRPr lang="en-GB" sz="9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900" b="1" dirty="0"/>
                        <a:t>Diagnostic Features / Inclusions</a:t>
                      </a:r>
                      <a:endParaRPr lang="en-GB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46825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900" b="1"/>
                        <a:t>WBC</a:t>
                      </a:r>
                      <a:endParaRPr lang="en-GB" sz="9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900" dirty="0"/>
                        <a:t>Neutrophil (mature)  </a:t>
                      </a:r>
                    </a:p>
                    <a:p>
                      <a:pPr algn="l">
                        <a:buNone/>
                      </a:pPr>
                      <a:r>
                        <a:rPr lang="en-GB" sz="900" dirty="0"/>
                        <a:t>Band (immature neutrophil)  </a:t>
                      </a:r>
                    </a:p>
                    <a:p>
                      <a:pPr algn="l">
                        <a:buNone/>
                      </a:pPr>
                      <a:r>
                        <a:rPr lang="en-GB" sz="900" dirty="0"/>
                        <a:t>Lymphocyte (small)  </a:t>
                      </a:r>
                    </a:p>
                    <a:p>
                      <a:pPr algn="l">
                        <a:buNone/>
                      </a:pPr>
                      <a:r>
                        <a:rPr lang="en-GB" sz="900" dirty="0"/>
                        <a:t>Lymphocyte (large)  </a:t>
                      </a:r>
                    </a:p>
                    <a:p>
                      <a:pPr algn="l">
                        <a:buNone/>
                      </a:pPr>
                      <a:r>
                        <a:rPr lang="en-GB" sz="900" dirty="0"/>
                        <a:t>Monocyte  </a:t>
                      </a:r>
                    </a:p>
                    <a:p>
                      <a:pPr algn="l">
                        <a:buNone/>
                      </a:pPr>
                      <a:r>
                        <a:rPr lang="en-GB" sz="900" dirty="0"/>
                        <a:t>Eosinophil  </a:t>
                      </a:r>
                    </a:p>
                    <a:p>
                      <a:pPr algn="l">
                        <a:buNone/>
                      </a:pPr>
                      <a:r>
                        <a:rPr lang="en-GB" sz="900" dirty="0"/>
                        <a:t>Basophil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900" dirty="0"/>
                        <a:t>Blast  </a:t>
                      </a:r>
                    </a:p>
                    <a:p>
                      <a:pPr algn="l">
                        <a:buNone/>
                      </a:pPr>
                      <a:r>
                        <a:rPr lang="en-GB" sz="900" dirty="0"/>
                        <a:t>Dysplastic Neutrophil  </a:t>
                      </a:r>
                    </a:p>
                    <a:p>
                      <a:pPr algn="l">
                        <a:buNone/>
                      </a:pPr>
                      <a:r>
                        <a:rPr lang="en-GB" sz="900" dirty="0"/>
                        <a:t>Atypical Lymphocyte  </a:t>
                      </a:r>
                    </a:p>
                    <a:p>
                      <a:pPr algn="l">
                        <a:buNone/>
                      </a:pPr>
                      <a:r>
                        <a:rPr lang="en-GB" sz="900" dirty="0"/>
                        <a:t>Smudge Cell  </a:t>
                      </a:r>
                    </a:p>
                    <a:p>
                      <a:pPr algn="l">
                        <a:buNone/>
                      </a:pPr>
                      <a:r>
                        <a:rPr lang="en-GB" sz="900" dirty="0" err="1"/>
                        <a:t>Hypersegmented</a:t>
                      </a:r>
                      <a:r>
                        <a:rPr lang="en-GB" sz="900" dirty="0"/>
                        <a:t> Neutrophil  </a:t>
                      </a:r>
                    </a:p>
                    <a:p>
                      <a:pPr algn="l">
                        <a:buNone/>
                      </a:pPr>
                      <a:r>
                        <a:rPr lang="en-GB" sz="900" dirty="0"/>
                        <a:t>Reactive Monocyte  </a:t>
                      </a:r>
                    </a:p>
                    <a:p>
                      <a:pPr algn="l">
                        <a:buNone/>
                      </a:pPr>
                      <a:r>
                        <a:rPr lang="en-GB" sz="900" dirty="0"/>
                        <a:t>Pelger-</a:t>
                      </a:r>
                      <a:r>
                        <a:rPr lang="en-GB" sz="900" dirty="0" err="1"/>
                        <a:t>Huët</a:t>
                      </a:r>
                      <a:r>
                        <a:rPr lang="en-GB" sz="900" dirty="0"/>
                        <a:t>  </a:t>
                      </a:r>
                    </a:p>
                    <a:p>
                      <a:pPr algn="l">
                        <a:buNone/>
                      </a:pPr>
                      <a:r>
                        <a:rPr lang="en-GB" sz="900" dirty="0"/>
                        <a:t>Leukemoid Reaction  </a:t>
                      </a:r>
                    </a:p>
                    <a:p>
                      <a:pPr algn="l">
                        <a:buNone/>
                      </a:pPr>
                      <a:r>
                        <a:rPr lang="en-GB" sz="900" dirty="0"/>
                        <a:t>Vacuolated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900" dirty="0"/>
                        <a:t>Auer Rod  </a:t>
                      </a:r>
                    </a:p>
                    <a:p>
                      <a:pPr algn="l">
                        <a:buNone/>
                      </a:pPr>
                      <a:r>
                        <a:rPr lang="en-GB" sz="900" dirty="0"/>
                        <a:t>Toxic Granulation  </a:t>
                      </a:r>
                    </a:p>
                    <a:p>
                      <a:pPr algn="l">
                        <a:buNone/>
                      </a:pPr>
                      <a:r>
                        <a:rPr lang="en-GB" sz="900" dirty="0"/>
                        <a:t>Döhle Body  </a:t>
                      </a:r>
                    </a:p>
                    <a:p>
                      <a:pPr algn="l">
                        <a:buNone/>
                      </a:pPr>
                      <a:r>
                        <a:rPr lang="en-GB" sz="900" dirty="0"/>
                        <a:t>Vacuole  </a:t>
                      </a:r>
                    </a:p>
                    <a:p>
                      <a:pPr algn="l">
                        <a:buNone/>
                      </a:pPr>
                      <a:r>
                        <a:rPr lang="en-GB" sz="900" dirty="0"/>
                        <a:t>Intracellular Bacteria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20634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900" b="1"/>
                        <a:t>RBC</a:t>
                      </a:r>
                      <a:endParaRPr lang="en-GB" sz="9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900" dirty="0"/>
                        <a:t>Normocytic  </a:t>
                      </a:r>
                    </a:p>
                    <a:p>
                      <a:pPr algn="l">
                        <a:buNone/>
                      </a:pPr>
                      <a:r>
                        <a:rPr lang="en-GB" sz="900" dirty="0"/>
                        <a:t>Reticulocyte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GB" sz="900" dirty="0"/>
                        <a:t>Microcyte  </a:t>
                      </a: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GB" sz="900" dirty="0"/>
                        <a:t>Macrocyte  </a:t>
                      </a: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GB" sz="900" dirty="0"/>
                        <a:t>Anisocytosis  </a:t>
                      </a: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GB" sz="900" dirty="0"/>
                        <a:t>Poikilocytosis  </a:t>
                      </a: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GB" sz="900" dirty="0"/>
                        <a:t>Target Cell  </a:t>
                      </a: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GB" sz="900" dirty="0"/>
                        <a:t>Spherocyte  </a:t>
                      </a: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GB" sz="900" dirty="0"/>
                        <a:t>Elliptocyte  </a:t>
                      </a: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GB" sz="900" dirty="0"/>
                        <a:t>Schistocyte  </a:t>
                      </a: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GB" sz="900" dirty="0" err="1"/>
                        <a:t>Stomatocyte</a:t>
                      </a:r>
                      <a:r>
                        <a:rPr lang="en-GB" sz="900" dirty="0"/>
                        <a:t>  </a:t>
                      </a: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GB" sz="900" dirty="0"/>
                        <a:t>Echinocyte  </a:t>
                      </a: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GB" sz="900" dirty="0"/>
                        <a:t>Sickle Cell  </a:t>
                      </a: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GB" sz="900" dirty="0"/>
                        <a:t>Teardrop Cell  </a:t>
                      </a: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GB" sz="900" dirty="0"/>
                        <a:t>Hypochromic  </a:t>
                      </a: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GB" sz="900" dirty="0"/>
                        <a:t>Polychromatic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900" dirty="0"/>
                        <a:t>Howell-Jolly Body  </a:t>
                      </a:r>
                    </a:p>
                    <a:p>
                      <a:pPr algn="l">
                        <a:buNone/>
                      </a:pPr>
                      <a:r>
                        <a:rPr lang="en-GB" sz="900" dirty="0"/>
                        <a:t>Basophilic Stippling  </a:t>
                      </a:r>
                    </a:p>
                    <a:p>
                      <a:pPr algn="l">
                        <a:buNone/>
                      </a:pPr>
                      <a:r>
                        <a:rPr lang="en-GB" sz="900" dirty="0"/>
                        <a:t>Heinz Body  </a:t>
                      </a:r>
                    </a:p>
                    <a:p>
                      <a:pPr algn="l">
                        <a:buNone/>
                      </a:pPr>
                      <a:r>
                        <a:rPr lang="en-GB" sz="900" dirty="0"/>
                        <a:t>Pappenheimer Body  </a:t>
                      </a:r>
                    </a:p>
                    <a:p>
                      <a:pPr algn="l">
                        <a:buNone/>
                      </a:pPr>
                      <a:r>
                        <a:rPr lang="en-GB" sz="900" dirty="0" err="1"/>
                        <a:t>Siderotic</a:t>
                      </a:r>
                      <a:r>
                        <a:rPr lang="en-GB" sz="900" dirty="0"/>
                        <a:t> Granules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15498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900" b="1" dirty="0"/>
                        <a:t>Platelets</a:t>
                      </a:r>
                      <a:endParaRPr lang="en-GB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900" dirty="0"/>
                        <a:t>Normal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900" dirty="0"/>
                        <a:t>Giant  </a:t>
                      </a:r>
                    </a:p>
                    <a:p>
                      <a:pPr algn="l">
                        <a:buNone/>
                      </a:pPr>
                      <a:r>
                        <a:rPr lang="en-GB" sz="900" dirty="0"/>
                        <a:t>Micro  </a:t>
                      </a:r>
                    </a:p>
                    <a:p>
                      <a:pPr algn="l">
                        <a:buNone/>
                      </a:pPr>
                      <a:r>
                        <a:rPr lang="en-GB" sz="900" dirty="0"/>
                        <a:t>Clump  </a:t>
                      </a:r>
                    </a:p>
                    <a:p>
                      <a:pPr algn="l">
                        <a:buNone/>
                      </a:pPr>
                      <a:r>
                        <a:rPr lang="en-GB" sz="900" dirty="0" err="1"/>
                        <a:t>Hypogranular</a:t>
                      </a:r>
                      <a:endParaRPr lang="en-GB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900" dirty="0"/>
                        <a:t>Giant Granules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99758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900" b="1" dirty="0"/>
                        <a:t>Parasites/Rare Inclusions</a:t>
                      </a:r>
                      <a:endParaRPr lang="en-GB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GB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GB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900" dirty="0"/>
                        <a:t>Plasmodium Ring  </a:t>
                      </a:r>
                    </a:p>
                    <a:p>
                      <a:pPr algn="l">
                        <a:buNone/>
                      </a:pPr>
                      <a:r>
                        <a:rPr lang="en-GB" sz="900" dirty="0"/>
                        <a:t>Plasmodium Trophozoite  </a:t>
                      </a:r>
                    </a:p>
                    <a:p>
                      <a:pPr algn="l">
                        <a:buNone/>
                      </a:pPr>
                      <a:r>
                        <a:rPr lang="en-GB" sz="900" dirty="0"/>
                        <a:t>Plasmodium Schizont  </a:t>
                      </a:r>
                    </a:p>
                    <a:p>
                      <a:pPr algn="l">
                        <a:buNone/>
                      </a:pPr>
                      <a:r>
                        <a:rPr lang="en-GB" sz="900" dirty="0"/>
                        <a:t>Babesia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14004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58892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3B6FE-1B8D-7A7A-B681-207F0D428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Regulatory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EAA7AA-A061-3DEB-82F7-552D23FE07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Need to obtain regulatory approval to use proprietary software in the diagnosis of real patients</a:t>
            </a:r>
          </a:p>
          <a:p>
            <a:endParaRPr lang="en-GB" dirty="0"/>
          </a:p>
          <a:p>
            <a:r>
              <a:rPr lang="en-GB" dirty="0"/>
              <a:t>Perform clinical trials to prove software is reliable and accurate</a:t>
            </a:r>
          </a:p>
          <a:p>
            <a:endParaRPr lang="en-GB" dirty="0"/>
          </a:p>
          <a:p>
            <a:r>
              <a:rPr lang="en-GB" dirty="0"/>
              <a:t>Demonstrate that no harm to patients is caused</a:t>
            </a:r>
          </a:p>
        </p:txBody>
      </p:sp>
    </p:spTree>
    <p:extLst>
      <p:ext uri="{BB962C8B-B14F-4D97-AF65-F5344CB8AC3E}">
        <p14:creationId xmlns:p14="http://schemas.microsoft.com/office/powerpoint/2010/main" val="11038991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CA6C4-1CA3-2219-786B-74BF3FC23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</a:t>
            </a:r>
            <a:r>
              <a:rPr lang="en-GB" dirty="0" err="1"/>
              <a:t>Bentara</a:t>
            </a:r>
            <a:r>
              <a:rPr lang="en-GB" dirty="0"/>
              <a:t> Technologies Needs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5FC8E-B019-2BB5-871F-97328FB53D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£2 million</a:t>
            </a:r>
          </a:p>
          <a:p>
            <a:r>
              <a:rPr lang="en-GB" dirty="0"/>
              <a:t>Collect real blood films from patients to create images</a:t>
            </a:r>
          </a:p>
          <a:p>
            <a:r>
              <a:rPr lang="en-GB" dirty="0"/>
              <a:t>Hire haematologists/lab scientists to label and bound cells (</a:t>
            </a:r>
            <a:r>
              <a:rPr lang="en-GB" u="sng" dirty="0"/>
              <a:t>&gt;</a:t>
            </a:r>
            <a:r>
              <a:rPr lang="en-GB" dirty="0"/>
              <a:t> 1m images)</a:t>
            </a:r>
            <a:endParaRPr lang="en-GB" u="sng" dirty="0"/>
          </a:p>
          <a:p>
            <a:r>
              <a:rPr lang="en-GB" dirty="0"/>
              <a:t>GPUs to train model</a:t>
            </a:r>
          </a:p>
          <a:p>
            <a:r>
              <a:rPr lang="en-GB" dirty="0"/>
              <a:t>Ethics and clinical trials</a:t>
            </a:r>
          </a:p>
          <a:p>
            <a:r>
              <a:rPr lang="en-GB" dirty="0"/>
              <a:t>Integration into lab workflows &amp; clinical settings</a:t>
            </a:r>
          </a:p>
        </p:txBody>
      </p:sp>
    </p:spTree>
    <p:extLst>
      <p:ext uri="{BB962C8B-B14F-4D97-AF65-F5344CB8AC3E}">
        <p14:creationId xmlns:p14="http://schemas.microsoft.com/office/powerpoint/2010/main" val="7474614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750</Words>
  <Application>Microsoft Macintosh PowerPoint</Application>
  <PresentationFormat>Widescreen</PresentationFormat>
  <Paragraphs>200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Aptos</vt:lpstr>
      <vt:lpstr>Aptos Display</vt:lpstr>
      <vt:lpstr>Arial</vt:lpstr>
      <vt:lpstr>Office Theme</vt:lpstr>
      <vt:lpstr>Bentara Technologies</vt:lpstr>
      <vt:lpstr>Mission</vt:lpstr>
      <vt:lpstr>Team</vt:lpstr>
      <vt:lpstr>Problem</vt:lpstr>
      <vt:lpstr>Lab Workflow (Current)</vt:lpstr>
      <vt:lpstr>Lab Workflow (with Bentara Technologies)</vt:lpstr>
      <vt:lpstr>Product Solution</vt:lpstr>
      <vt:lpstr>PowerPoint Presentation</vt:lpstr>
      <vt:lpstr>Challenges</vt:lpstr>
      <vt:lpstr>Development Timeline</vt:lpstr>
      <vt:lpstr>Competition</vt:lpstr>
      <vt:lpstr>Target Market</vt:lpstr>
      <vt:lpstr>Funding Requirements</vt:lpstr>
      <vt:lpstr>Revenue Streams</vt:lpstr>
      <vt:lpstr>Growth/Expansion Opportunities</vt:lpstr>
      <vt:lpstr>Data Sources</vt:lpstr>
      <vt:lpstr>Cell Types</vt:lpstr>
      <vt:lpstr>Regulatory Process</vt:lpstr>
      <vt:lpstr>What Bentara Technologies Needs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Nathaniel Bailie</dc:creator>
  <cp:lastModifiedBy>Nathaniel Bailie</cp:lastModifiedBy>
  <cp:revision>18</cp:revision>
  <dcterms:created xsi:type="dcterms:W3CDTF">2025-08-04T20:33:29Z</dcterms:created>
  <dcterms:modified xsi:type="dcterms:W3CDTF">2025-09-28T14:06:55Z</dcterms:modified>
</cp:coreProperties>
</file>